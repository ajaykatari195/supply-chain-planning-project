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A"/>
                </a:solidFill>
                <a:latin typeface="+mn-lt"/>
              </a:rPr>
              <a:t>Backtest WAPE % (last 6 months, all SKUs)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WAPE %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Exp. smoothing</c:v>
                  </c:pt>
                  <c:pt idx="1">
                    <c:v>Moving avg (3m)</c:v>
                  </c:pt>
                  <c:pt idx="2">
                    <c:v>Naive</c:v>
                  </c:pt>
                  <c:pt idx="3">
                    <c:v>Seasonal naive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24.7</c:v>
                </c:pt>
                <c:pt idx="1">
                  <c:v>27.4</c:v>
                </c:pt>
                <c:pt idx="2">
                  <c:v>27.6</c:v>
                </c:pt>
                <c:pt idx="3">
                  <c:v>27.7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1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A"/>
                </a:solidFill>
                <a:latin typeface="+mn-lt"/>
              </a:rPr>
              <a:t>Share of SKUs vs share of annual value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SKUs</c:v>
                </c:pt>
              </c:strCache>
            </c:strRef>
          </c:tx>
          <c:spPr>
            <a:solidFill>
              <a:srgbClr val="8FA9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 A</c:v>
                  </c:pt>
                  <c:pt idx="1">
                    <c:v>Class B</c:v>
                  </c:pt>
                  <c:pt idx="2">
                    <c:v>Class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32.5</c:v>
                </c:pt>
                <c:pt idx="1">
                  <c:v>35</c:v>
                </c:pt>
                <c:pt idx="2">
                  <c:v>32.5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annual value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 A</c:v>
                  </c:pt>
                  <c:pt idx="1">
                    <c:v>Class B</c:v>
                  </c:pt>
                  <c:pt idx="2">
                    <c:v>Class 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78.6</c:v>
                </c:pt>
                <c:pt idx="1">
                  <c:v>16</c:v>
                </c:pt>
                <c:pt idx="2">
                  <c:v>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1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A3A"/>
                </a:solidFill>
                <a:latin typeface="+mn-lt"/>
              </a:rPr>
              <a:t>Safety stock value, USD thousands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Uniform 95%</c:v>
                </c:pt>
              </c:strCache>
            </c:strRef>
          </c:tx>
          <c:spPr>
            <a:solidFill>
              <a:srgbClr val="8FA9B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 A</c:v>
                  </c:pt>
                  <c:pt idx="1">
                    <c:v>Class B</c:v>
                  </c:pt>
                  <c:pt idx="2">
                    <c:v>Class 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</c:v>
                </c:pt>
                <c:pt idx="1">
                  <c:v>24.4</c:v>
                </c:pt>
                <c:pt idx="2">
                  <c:v>7.5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By ABC class (97.5 / 95 / 90%)</c:v>
                </c:pt>
              </c:strCache>
            </c:strRef>
          </c:tx>
          <c:spPr>
            <a:solidFill>
              <a:srgbClr val="1F7A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3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Class A</c:v>
                  </c:pt>
                  <c:pt idx="1">
                    <c:v>Class B</c:v>
                  </c:pt>
                  <c:pt idx="2">
                    <c:v>Class 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84.4</c:v>
                </c:pt>
                <c:pt idx="1">
                  <c:v>24.4</c:v>
                </c:pt>
                <c:pt idx="2">
                  <c:v>5.9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3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1E7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7A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F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F7A8C"/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Supply Chain Planning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FD7DE"/>
                </a:solidFill>
              </a:rPr>
              <a:t>Demand forecasting and inventory optimization for a 40-SKU distribution portfolio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0233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9B5"/>
                </a:solidFill>
              </a:rPr>
              <a:t>Forecasting  |  ABC-XYZ analysis  |  Safety stock  |  Reorder point  |  EOQ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Approach: from demand signal to inventory policy</a:t>
            </a:r>
            <a:endParaRPr lang="en-US" sz="2600" dirty="0"/>
          </a:p>
        </p:txBody>
      </p:sp>
      <p:sp>
        <p:nvSpPr>
          <p:cNvPr id="3" name="Card Forecast"/>
          <p:cNvSpPr/>
          <p:nvPr/>
        </p:nvSpPr>
        <p:spPr>
          <a:xfrm>
            <a:off x="457200" y="1280160"/>
            <a:ext cx="1920240" cy="2651760"/>
          </a:xfrm>
          <a:prstGeom prst="rect">
            <a:avLst/>
          </a:prstGeom>
          <a:solidFill>
            <a:schemeClr val="bg2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4" name="Badge 1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Forecast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688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Compare 4 methods in a 6-month backtest and pick the best per SKU</a:t>
            </a:r>
            <a:endParaRPr lang="en-US" sz="1200" dirty="0"/>
          </a:p>
        </p:txBody>
      </p:sp>
      <p:sp>
        <p:nvSpPr>
          <p:cNvPr id="8" name="Card Classify"/>
          <p:cNvSpPr/>
          <p:nvPr/>
        </p:nvSpPr>
        <p:spPr>
          <a:xfrm>
            <a:off x="2542032" y="1280160"/>
            <a:ext cx="1920240" cy="2651760"/>
          </a:xfrm>
          <a:prstGeom prst="rect">
            <a:avLst/>
          </a:prstGeom>
          <a:solidFill>
            <a:schemeClr val="bg2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9" name="Badge 2"/>
          <p:cNvSpPr/>
          <p:nvPr/>
        </p:nvSpPr>
        <p:spPr>
          <a:xfrm>
            <a:off x="2724912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24912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724912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Classify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724912" y="24688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ABC by annual value and XYZ by demand variability</a:t>
            </a:r>
            <a:endParaRPr lang="en-US" sz="1200" dirty="0"/>
          </a:p>
        </p:txBody>
      </p:sp>
      <p:sp>
        <p:nvSpPr>
          <p:cNvPr id="13" name="Card Buffer"/>
          <p:cNvSpPr/>
          <p:nvPr/>
        </p:nvSpPr>
        <p:spPr>
          <a:xfrm>
            <a:off x="4626864" y="1280160"/>
            <a:ext cx="1920240" cy="2651760"/>
          </a:xfrm>
          <a:prstGeom prst="rect">
            <a:avLst/>
          </a:prstGeom>
          <a:solidFill>
            <a:schemeClr val="bg2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4" name="Badge 3"/>
          <p:cNvSpPr/>
          <p:nvPr/>
        </p:nvSpPr>
        <p:spPr>
          <a:xfrm>
            <a:off x="4809744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0974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809744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Buffer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809744" y="24688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Safety stock and reorder point, with service level set by ABC class</a:t>
            </a:r>
            <a:endParaRPr lang="en-US" sz="1200" dirty="0"/>
          </a:p>
        </p:txBody>
      </p:sp>
      <p:sp>
        <p:nvSpPr>
          <p:cNvPr id="18" name="Card Order"/>
          <p:cNvSpPr/>
          <p:nvPr/>
        </p:nvSpPr>
        <p:spPr>
          <a:xfrm>
            <a:off x="6711696" y="1280160"/>
            <a:ext cx="1920240" cy="2651760"/>
          </a:xfrm>
          <a:prstGeom prst="rect">
            <a:avLst/>
          </a:prstGeom>
          <a:solidFill>
            <a:schemeClr val="bg2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9" name="Badge 4"/>
          <p:cNvSpPr/>
          <p:nvPr/>
        </p:nvSpPr>
        <p:spPr>
          <a:xfrm>
            <a:off x="6894576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94576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894576" y="20574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Order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46888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Economic order quantity to balance ordering and holding cost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Data is synthetic: 40 SKUs, 5 categories, 36 months, lead times from 7 to 45 days.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Exponential smoothing is the most accurate single method</a:t>
            </a:r>
            <a:endParaRPr lang="en-US" sz="2600" dirty="0"/>
          </a:p>
        </p:txBody>
      </p:sp>
      <p:graphicFrame>
        <p:nvGraphicFramePr>
          <p:cNvPr id="3" name="Method chart" descr=""/>
          <p:cNvGraphicFramePr/>
          <p:nvPr/>
        </p:nvGraphicFramePr>
        <p:xfrm>
          <a:off x="457200" y="10972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ccent 0"/>
          <p:cNvSpPr/>
          <p:nvPr/>
        </p:nvSpPr>
        <p:spPr>
          <a:xfrm>
            <a:off x="5760720" y="1188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Best overall: Exp. smoothing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536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24.7% WAPE across all SKUs</a:t>
            </a:r>
            <a:endParaRPr lang="en-US" sz="1100" dirty="0"/>
          </a:p>
        </p:txBody>
      </p:sp>
      <p:sp>
        <p:nvSpPr>
          <p:cNvPr id="7" name="Accent 1"/>
          <p:cNvSpPr/>
          <p:nvPr/>
        </p:nvSpPr>
        <p:spPr>
          <a:xfrm>
            <a:off x="5760720" y="2331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method wins everywhere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679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Best method differs by SKU, so each SKU uses its own best fit</a:t>
            </a:r>
            <a:endParaRPr lang="en-US" sz="1100" dirty="0"/>
          </a:p>
        </p:txBody>
      </p:sp>
      <p:sp>
        <p:nvSpPr>
          <p:cNvPr id="10" name="Accent 2"/>
          <p:cNvSpPr/>
          <p:nvPr/>
        </p:nvSpPr>
        <p:spPr>
          <a:xfrm>
            <a:off x="5760720" y="3474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Lower is better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822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WAPE = total absolute error / total actual demand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A third of SKUs drive about 79% of value</a:t>
            </a:r>
            <a:endParaRPr lang="en-US" sz="2600" dirty="0"/>
          </a:p>
        </p:txBody>
      </p:sp>
      <p:graphicFrame>
        <p:nvGraphicFramePr>
          <p:cNvPr id="3" name="ABC chart" descr=""/>
          <p:cNvGraphicFramePr/>
          <p:nvPr/>
        </p:nvGraphicFramePr>
        <p:xfrm>
          <a:off x="457200" y="10972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ccent 0"/>
          <p:cNvSpPr/>
          <p:nvPr/>
        </p:nvSpPr>
        <p:spPr>
          <a:xfrm>
            <a:off x="5760720" y="1188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 A: tight control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536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13 of 40 SKUs, about 79% of value; review often, highest service level</a:t>
            </a:r>
            <a:endParaRPr lang="en-US" sz="1100" dirty="0"/>
          </a:p>
        </p:txBody>
      </p:sp>
      <p:sp>
        <p:nvSpPr>
          <p:cNvPr id="7" name="Accent 1"/>
          <p:cNvSpPr/>
          <p:nvPr/>
        </p:nvSpPr>
        <p:spPr>
          <a:xfrm>
            <a:off x="5760720" y="2331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 B: standard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679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Routine reorder rules at a 95% service level</a:t>
            </a:r>
            <a:endParaRPr lang="en-US" sz="1100" dirty="0"/>
          </a:p>
        </p:txBody>
      </p:sp>
      <p:sp>
        <p:nvSpPr>
          <p:cNvPr id="10" name="Accent 2"/>
          <p:cNvSpPr/>
          <p:nvPr/>
        </p:nvSpPr>
        <p:spPr>
          <a:xfrm>
            <a:off x="5760720" y="3474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 C: keep it simple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822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Low value; 90% service level and simple reorder rules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Service levels by class redirect safety stock to Class A</a:t>
            </a:r>
            <a:endParaRPr lang="en-US" sz="2600" dirty="0"/>
          </a:p>
        </p:txBody>
      </p:sp>
      <p:graphicFrame>
        <p:nvGraphicFramePr>
          <p:cNvPr id="3" name="Safety stock chart" descr=""/>
          <p:cNvGraphicFramePr/>
          <p:nvPr/>
        </p:nvGraphicFramePr>
        <p:xfrm>
          <a:off x="457200" y="1097280"/>
          <a:ext cx="4937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ccent 0"/>
          <p:cNvSpPr/>
          <p:nvPr/>
        </p:nvSpPr>
        <p:spPr>
          <a:xfrm>
            <a:off x="5760720" y="1188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5943600" y="1188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Class A rises, Class C falls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1536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Extra buffer goes where stock-outs cost the most; Class C is trimmed</a:t>
            </a:r>
            <a:endParaRPr lang="en-US" sz="1100" dirty="0"/>
          </a:p>
        </p:txBody>
      </p:sp>
      <p:sp>
        <p:nvSpPr>
          <p:cNvPr id="7" name="Accent 1"/>
          <p:cNvSpPr/>
          <p:nvPr/>
        </p:nvSpPr>
        <p:spPr>
          <a:xfrm>
            <a:off x="5760720" y="2331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94360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Total: $115k vs $103k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2679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 deliberate investment for higher availability on key SKUs</a:t>
            </a:r>
            <a:endParaRPr lang="en-US" sz="1100" dirty="0"/>
          </a:p>
        </p:txBody>
      </p:sp>
      <p:sp>
        <p:nvSpPr>
          <p:cNvPr id="10" name="Accent 2"/>
          <p:cNvSpPr/>
          <p:nvPr/>
        </p:nvSpPr>
        <p:spPr>
          <a:xfrm>
            <a:off x="5760720" y="3474720"/>
            <a:ext cx="64008" cy="9144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EOQ ordering policy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5943600" y="3822192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Annual ordering plus holding cost of about $45k across all SKUs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Recommendations and next steps</a:t>
            </a:r>
            <a:endParaRPr lang="en-US" sz="2600" dirty="0"/>
          </a:p>
        </p:txBody>
      </p:sp>
      <p:sp>
        <p:nvSpPr>
          <p:cNvPr id="3" name="Rec card 0"/>
          <p:cNvSpPr/>
          <p:nvPr/>
        </p:nvSpPr>
        <p:spPr>
          <a:xfrm>
            <a:off x="457200" y="1188720"/>
            <a:ext cx="402336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4" name="Rec accent 0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Review forecasts monthly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Track WAPE and bias by SKU in a regular S&amp;OP review.</a:t>
            </a:r>
            <a:endParaRPr lang="en-US" sz="1200" dirty="0"/>
          </a:p>
        </p:txBody>
      </p:sp>
      <p:sp>
        <p:nvSpPr>
          <p:cNvPr id="7" name="Rec card 1"/>
          <p:cNvSpPr/>
          <p:nvPr/>
        </p:nvSpPr>
        <p:spPr>
          <a:xfrm>
            <a:off x="4663440" y="1188720"/>
            <a:ext cx="402336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8" name="Rec accent 1"/>
          <p:cNvSpPr/>
          <p:nvPr/>
        </p:nvSpPr>
        <p:spPr>
          <a:xfrm>
            <a:off x="4663440" y="1188720"/>
            <a:ext cx="73152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937760" y="13716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Focus on AZ items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93776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High value and high variability: add demand sensing or safety stock reviews.</a:t>
            </a:r>
            <a:endParaRPr lang="en-US" sz="1200" dirty="0"/>
          </a:p>
        </p:txBody>
      </p:sp>
      <p:sp>
        <p:nvSpPr>
          <p:cNvPr id="11" name="Rec card 2"/>
          <p:cNvSpPr/>
          <p:nvPr/>
        </p:nvSpPr>
        <p:spPr>
          <a:xfrm>
            <a:off x="457200" y="2743200"/>
            <a:ext cx="402336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2" name="Rec accent 2"/>
          <p:cNvSpPr/>
          <p:nvPr/>
        </p:nvSpPr>
        <p:spPr>
          <a:xfrm>
            <a:off x="457200" y="2743200"/>
            <a:ext cx="73152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Shorten lead times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337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Long-lead SKUs need far more safety stock; work with suppliers.</a:t>
            </a:r>
            <a:endParaRPr lang="en-US" sz="1200" dirty="0"/>
          </a:p>
        </p:txBody>
      </p:sp>
      <p:sp>
        <p:nvSpPr>
          <p:cNvPr id="15" name="Rec card 3"/>
          <p:cNvSpPr/>
          <p:nvPr/>
        </p:nvSpPr>
        <p:spPr>
          <a:xfrm>
            <a:off x="4663440" y="2743200"/>
            <a:ext cx="4023360" cy="1371600"/>
          </a:xfrm>
          <a:prstGeom prst="rect">
            <a:avLst/>
          </a:prstGeom>
          <a:solidFill>
            <a:schemeClr val="bg2"/>
          </a:solidFill>
          <a:ln w="9525">
            <a:solidFill>
              <a:srgbClr val="D5DDE5"/>
            </a:solidFill>
            <a:prstDash val="solid"/>
          </a:ln>
        </p:spPr>
      </p:sp>
      <p:sp>
        <p:nvSpPr>
          <p:cNvPr id="16" name="Rec accent 3"/>
          <p:cNvSpPr/>
          <p:nvPr/>
        </p:nvSpPr>
        <p:spPr>
          <a:xfrm>
            <a:off x="4663440" y="2743200"/>
            <a:ext cx="73152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937760" y="2926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Improve the models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937760" y="33375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Add promotions and holidays; try Holt-Winters or ML forecasts.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B7A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3A"/>
      </a:dk1>
      <a:lt1>
        <a:srgbClr val="FFFFFF"/>
      </a:lt1>
      <a:dk2>
        <a:srgbClr val="0F2236"/>
      </a:dk2>
      <a:lt2>
        <a:srgbClr val="F3F6F9"/>
      </a:lt2>
      <a:accent1>
        <a:srgbClr val="1F7A8C"/>
      </a:accent1>
      <a:accent2>
        <a:srgbClr val="E07A1F"/>
      </a:accent2>
      <a:accent3>
        <a:srgbClr val="6A994E"/>
      </a:accent3>
      <a:accent4>
        <a:srgbClr val="7B5EA7"/>
      </a:accent4>
      <a:accent5>
        <a:srgbClr val="5C6B7A"/>
      </a:accent5>
      <a:accent6>
        <a:srgbClr val="BF4342"/>
      </a:accent6>
      <a:hlink>
        <a:srgbClr val="1F7A8C"/>
      </a:hlink>
      <a:folHlink>
        <a:srgbClr val="5C6B7A"/>
      </a:folHlink>
    </a:clrScheme>
    <a:fontScheme name="SC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2026-10-17T10:17:00Z</dcterms:created>
  <dcterms:modified xsi:type="dcterms:W3CDTF">2026-10-17T10:17:00Z</dcterms:modified>
</cp:coreProperties>
</file>